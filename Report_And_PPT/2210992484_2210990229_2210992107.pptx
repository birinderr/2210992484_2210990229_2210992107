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59470237_2_69:notes"/>
          <p:cNvSpPr/>
          <p:nvPr>
            <p:ph idx="2" type="sldImg"/>
          </p:nvPr>
        </p:nvSpPr>
        <p:spPr>
          <a:xfrm>
            <a:off x="519895" y="1143171"/>
            <a:ext cx="5818211" cy="308601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b59470237_2_69:notes"/>
          <p:cNvSpPr txBox="1"/>
          <p:nvPr>
            <p:ph idx="1" type="body"/>
          </p:nvPr>
        </p:nvSpPr>
        <p:spPr>
          <a:xfrm>
            <a:off x="685512" y="4400259"/>
            <a:ext cx="5486976" cy="3600581"/>
          </a:xfrm>
          <a:prstGeom prst="rect">
            <a:avLst/>
          </a:prstGeom>
          <a:noFill/>
          <a:ln>
            <a:noFill/>
          </a:ln>
        </p:spPr>
        <p:txBody>
          <a:bodyPr anchorCtr="0" anchor="t" bIns="40675" lIns="81350" spcFirstLastPara="1" rIns="81350" wrap="square" tIns="4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2" name="Google Shape;122;g3db59470237_2_69:notes"/>
          <p:cNvSpPr txBox="1"/>
          <p:nvPr>
            <p:ph idx="12" type="sldNum"/>
          </p:nvPr>
        </p:nvSpPr>
        <p:spPr>
          <a:xfrm>
            <a:off x="3884088" y="8685113"/>
            <a:ext cx="2972472" cy="458898"/>
          </a:xfrm>
          <a:prstGeom prst="rect">
            <a:avLst/>
          </a:prstGeom>
          <a:noFill/>
          <a:ln>
            <a:noFill/>
          </a:ln>
        </p:spPr>
        <p:txBody>
          <a:bodyPr anchorCtr="0" anchor="b" bIns="40675" lIns="81350" spcFirstLastPara="1" rIns="81350" wrap="square" tIns="40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123" name="Google Shape;123;g3db59470237_2_69:notes"/>
          <p:cNvSpPr txBox="1"/>
          <p:nvPr>
            <p:ph idx="11" type="ftr"/>
          </p:nvPr>
        </p:nvSpPr>
        <p:spPr>
          <a:xfrm>
            <a:off x="0" y="8685113"/>
            <a:ext cx="2972472" cy="458898"/>
          </a:xfrm>
          <a:prstGeom prst="rect">
            <a:avLst/>
          </a:prstGeom>
          <a:noFill/>
          <a:ln>
            <a:noFill/>
          </a:ln>
        </p:spPr>
        <p:txBody>
          <a:bodyPr anchorCtr="0" anchor="b" bIns="40675" lIns="81350" spcFirstLastPara="1" rIns="81350" wrap="square" tIns="4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Name of the faculty [Group: G00] [Sem:2nd]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59470237_2_76:notes"/>
          <p:cNvSpPr txBox="1"/>
          <p:nvPr>
            <p:ph idx="1" type="body"/>
          </p:nvPr>
        </p:nvSpPr>
        <p:spPr>
          <a:xfrm>
            <a:off x="685512" y="4400259"/>
            <a:ext cx="5486976" cy="360058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b59470237_2_76:notes"/>
          <p:cNvSpPr/>
          <p:nvPr>
            <p:ph idx="2" type="sldImg"/>
          </p:nvPr>
        </p:nvSpPr>
        <p:spPr>
          <a:xfrm>
            <a:off x="519895" y="1143171"/>
            <a:ext cx="5818211" cy="308601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b59470237_0_55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b59470237_0_55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b59470237_0_61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b59470237_0_61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b59470237_0_43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b59470237_0_43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b59470237_0_49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b59470237_0_49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59470237_0_31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b59470237_0_31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b59470237_0_37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b59470237_0_37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59470237_0_1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b59470237_0_1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b59470237_0_25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b59470237_0_25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b59470237_0_13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b59470237_0_13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59470237_0_19:notes"/>
          <p:cNvSpPr txBox="1"/>
          <p:nvPr>
            <p:ph idx="1" type="body"/>
          </p:nvPr>
        </p:nvSpPr>
        <p:spPr>
          <a:xfrm>
            <a:off x="685512" y="4400259"/>
            <a:ext cx="5487000" cy="36006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b59470237_0_19:notes"/>
          <p:cNvSpPr/>
          <p:nvPr>
            <p:ph idx="2" type="sldImg"/>
          </p:nvPr>
        </p:nvSpPr>
        <p:spPr>
          <a:xfrm>
            <a:off x="519895" y="1143171"/>
            <a:ext cx="5818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b59470237_2_82:notes"/>
          <p:cNvSpPr txBox="1"/>
          <p:nvPr>
            <p:ph idx="1" type="body"/>
          </p:nvPr>
        </p:nvSpPr>
        <p:spPr>
          <a:xfrm>
            <a:off x="685512" y="4400259"/>
            <a:ext cx="5486976" cy="360058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b59470237_2_82:notes"/>
          <p:cNvSpPr/>
          <p:nvPr>
            <p:ph idx="2" type="sldImg"/>
          </p:nvPr>
        </p:nvSpPr>
        <p:spPr>
          <a:xfrm>
            <a:off x="519895" y="1143171"/>
            <a:ext cx="5818211" cy="308601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0" y="0"/>
            <a:ext cx="5486040" cy="317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3"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"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2"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3"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2"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3"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457200" y="1203390"/>
            <a:ext cx="822924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2"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2"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3"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4"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339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2" type="body"/>
          </p:nvPr>
        </p:nvSpPr>
        <p:spPr>
          <a:xfrm>
            <a:off x="3239640" y="120339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3" type="body"/>
          </p:nvPr>
        </p:nvSpPr>
        <p:spPr>
          <a:xfrm>
            <a:off x="6022080" y="120339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4" type="body"/>
          </p:nvPr>
        </p:nvSpPr>
        <p:spPr>
          <a:xfrm>
            <a:off x="457200" y="276156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5" type="body"/>
          </p:nvPr>
        </p:nvSpPr>
        <p:spPr>
          <a:xfrm>
            <a:off x="3239640" y="276156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6" type="body"/>
          </p:nvPr>
        </p:nvSpPr>
        <p:spPr>
          <a:xfrm>
            <a:off x="6022080" y="2761560"/>
            <a:ext cx="264960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640" cy="62829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 flipH="1" rot="10800000">
            <a:off x="0" y="5028480"/>
            <a:ext cx="9143640" cy="1482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53" name="Google Shape;53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54" name="Google Shape;54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56" name="Google Shape;56;p13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57" name="Google Shape;57;p13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59" name="Google Shape;5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171450"/>
            <a:ext cx="144045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60" name="Google Shape;60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3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62" name="Google Shape;62;p13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63" name="Google Shape;63;p13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3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65" name="Google Shape;6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171450"/>
            <a:ext cx="144045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>
            <p:ph type="title"/>
          </p:nvPr>
        </p:nvSpPr>
        <p:spPr>
          <a:xfrm>
            <a:off x="0" y="0"/>
            <a:ext cx="6476760" cy="62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02870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/>
        </p:nvSpPr>
        <p:spPr>
          <a:xfrm>
            <a:off x="0" y="630475"/>
            <a:ext cx="9144000" cy="4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Sensitivity in Generative AI</a:t>
            </a:r>
            <a:endParaRPr b="1" i="1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Utsav Singh, Birinder Singh, Purav Khurana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2210992484, 2210990229, 2210992107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Dr. Preeti Saini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/>
        </p:nvSpPr>
        <p:spPr>
          <a:xfrm>
            <a:off x="457200" y="0"/>
            <a:ext cx="6019560" cy="628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Large Language Models (LLMs) produce probabilistic results that depend heavily on prompt formulation.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Small syntactic differences, such as swapping synonyms or changing punctuation, can result in significant output deviations.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This phenomenon is known as "prompt fragility".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Prompt fragility raises serious concerns about using LLMs in automated processes that require reliable results.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Output Instability Matters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8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Deploying generative AI in production infrastructures carries significant risks if outputs are unstable.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Customer Service: A sudden tone deviation from an LLM might impair a brand's reputation.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Healthcare: Minor prompt modifications can cause a scope shift, leading to incomplete clinical summary reports.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Legal &amp; Financial: Subtle factual deviations in document creation may have major repercussions.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 &amp; Gap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9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Objectives: Quantify how various prompt perturbations affect LLM outputs, categorize the failure modes (scope drift, tonal shift, factual error), and develop a standardized approach to minimize variance.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Research Gap: Existing literature evaluates perturbation classes in isolation or limits evaluations to one domain or model.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This study provides the first comprehensive analysis of prompt sensitivity across multiple tasks and top-performing LLMs simultaneously.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&amp; Experimental Design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0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Baseline: Created 30 standardized prompts across three domains: facts retrieval, instruction following, and open generation.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Applied three types of perturbations to generate 120 total prompts: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Synonym Substitution: Replaced 1 to 3 keywords with synonyms from different lexical registers.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Punctuation Change: Systematically changed terminal punctuation or converted statements into questions.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Sentence Restructuring: Rearranged sentence structures, including active-passive conversions, without changing content.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Models Evaluated: GPT-4, Claude 3 Sonnet, and Gemini 2.5 Pro.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31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Automated Semantic Similarity: Computed Cosine similarity using Sentence-BERT embeddings.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Scores below 0.75 were flagged as significant divergence.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Human Evaluation: Three trained evaluators scored factual accuracy deviation, scope change, and tonal shift on a 0-10 scale.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Evaluator agreement was verified using Cohen's Kappa, achieving scores of 0.75 or higher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Syntactic Restructuring: Produced the largest variations, with an average similarity score of 0.61.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It caused scope changes in 23% of cases and had 67% of responses fall below the validation threshold.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Punctuation Modification: Caused moderate disruption with an average similarity score of 0.68, and scope changes in 18% of examples.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Synonym Substitution: Had the lowest semantic disruption (average score 0.84), but induced tonal shifts in 31% of cases, the highest of all conditions.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Cross-Domain &amp; Multi-Dimensional Impacts</a:t>
            </a: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3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Domain Resilience: Creative, open-ended prompts were slightly more resilient to structural changes.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Instructional prompts were the most heavily impacted by changes in punctuation.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Multi-Dimensional Profile: Syntactic manipulation consistently scored the highest for semantic variance, scope disruption, and structural instability.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Synonym replacement scored low for structural instability but highest for tonality change.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Engineering Guidelines (G1-G3)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4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34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G1 - Maintain Syntactic Uniformity: Automated prompts should use consistent active voice and declarative sentences with one main clause.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G2 - Terminal Punctuation Normalization: Use periods as the exclusive terminal punctuation for procedural prompts. Limit question marks to dialogical or exploratory answers.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G3 - Maintain Lexical Register: Use an optimal, consistent production vocabulary for key instruction verbs and domain terms.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Engineering Guidelines (G4-G5) &amp; Impact 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5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5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G4 - Define Scope Limits Explicitly: Include explicit constraints on the size, structure, and topic of the response. This guideline reduced the scope change rate in syntactic tasks from 23% to under 8%.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G5 - Use Output Filtering: Implement a semantic similarity check for high-stakes workflows, requiring manual review if the cosine similarity is under 0.75.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Overall Impact: Applying all five guidelines reduces output variance from a 38% baseline down to 9%.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This achieves a 91% output stability score, outperforming prior frameworks.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Contributions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6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6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Conclusion: Syntactic restructuring was confirmed as the most disruptive perturbation to LLMs, followed by punctuation and synonym changes.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Contributions: Provided numerical confirmation of a sensitivity hierarchy across multiple models and domains.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Developed a reliable five-stage process (G1-G5) that decreases output variability by roughly 76% without needing model retraining.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/>
        </p:nvSpPr>
        <p:spPr>
          <a:xfrm>
            <a:off x="457200" y="0"/>
            <a:ext cx="6019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7"/>
          <p:cNvSpPr txBox="1"/>
          <p:nvPr/>
        </p:nvSpPr>
        <p:spPr>
          <a:xfrm>
            <a:off x="6553080" y="476739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7"/>
          <p:cNvSpPr txBox="1"/>
          <p:nvPr/>
        </p:nvSpPr>
        <p:spPr>
          <a:xfrm>
            <a:off x="164008" y="832307"/>
            <a:ext cx="88386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Test multilingual prompts to check for language-specific sensitivity hierarchies.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Study prompt sensitivity in specialized LLMs used for medicine, law, or code generation.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Design automatic systems to detect high-risk prompts before deployment.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Apply the perturbation and evaluation methodology to multi-turn conversational prompts.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/>
        </p:nvSpPr>
        <p:spPr>
          <a:xfrm>
            <a:off x="1297577" y="2116184"/>
            <a:ext cx="6705599" cy="1058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